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League Spartan" charset="1" panose="00000800000000000000"/>
      <p:regular r:id="rId19"/>
    </p:embeddedFont>
    <p:embeddedFont>
      <p:font typeface="Gotham" charset="1" panose="00000000000000000000"/>
      <p:regular r:id="rId20"/>
    </p:embeddedFont>
    <p:embeddedFont>
      <p:font typeface="Gotham Bold" charset="1" panose="00000000000000000000"/>
      <p:regular r:id="rId24"/>
    </p:embeddedFont>
    <p:embeddedFont>
      <p:font typeface="Open Sans" charset="1" panose="020B0606030504020204"/>
      <p:regular r:id="rId27"/>
    </p:embeddedFont>
    <p:embeddedFont>
      <p:font typeface="Open Sans Bold" charset="1" panose="020B0806030504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4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Utilisateurs :</a:t>
            </a:r>
          </a:p>
          <a:p>
            <a:r>
              <a:rPr lang="en-US"/>
              <a:t>   gestion des comptes </a:t>
            </a:r>
          </a:p>
          <a:p>
            <a:r>
              <a:rPr lang="en-US"/>
              <a:t>   permissions</a:t>
            </a:r>
          </a:p>
          <a:p>
            <a:r>
              <a:rPr lang="en-US"/>
              <a:t/>
            </a:r>
          </a:p>
          <a:p>
            <a:r>
              <a:rPr lang="en-US"/>
              <a:t>Équipements :</a:t>
            </a:r>
          </a:p>
          <a:p>
            <a:r>
              <a:rPr lang="en-US"/>
              <a:t>   lumières</a:t>
            </a:r>
          </a:p>
          <a:p>
            <a:r>
              <a:rPr lang="en-US"/>
              <a:t>   chauffage et thermostat</a:t>
            </a:r>
          </a:p>
          <a:p>
            <a:r>
              <a:rPr lang="en-US"/>
              <a:t>   capteurs</a:t>
            </a:r>
          </a:p>
          <a:p>
            <a:r>
              <a:rPr lang="en-US"/>
              <a:t>   volets</a:t>
            </a:r>
          </a:p>
          <a:p>
            <a:r>
              <a:rPr lang="en-US"/>
              <a:t/>
            </a:r>
          </a:p>
          <a:p>
            <a:r>
              <a:rPr lang="en-US"/>
              <a:t>Automatisation :</a:t>
            </a:r>
          </a:p>
          <a:p>
            <a:r>
              <a:rPr lang="en-US"/>
              <a:t>   règles </a:t>
            </a:r>
          </a:p>
          <a:p>
            <a:r>
              <a:rPr lang="en-US"/>
              <a:t>   conditions</a:t>
            </a:r>
          </a:p>
          <a:p>
            <a:r>
              <a:rPr lang="en-US"/>
              <a:t>   déclencheurs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Sécurité :</a:t>
            </a:r>
          </a:p>
          <a:p>
            <a:r>
              <a:rPr lang="en-US"/>
              <a:t>   protection des données</a:t>
            </a:r>
          </a:p>
          <a:p>
            <a:r>
              <a:rPr lang="en-US"/>
              <a:t>   protection des équipements</a:t>
            </a:r>
          </a:p>
          <a:p>
            <a:r>
              <a:rPr lang="en-US"/>
              <a:t>   fiabilité</a:t>
            </a:r>
          </a:p>
          <a:p>
            <a:r>
              <a:rPr lang="en-US"/>
              <a:t>   simplicité d'utilisation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Associe chaque phase de conception à une phase de vérification</a:t>
            </a:r>
          </a:p>
          <a:p>
            <a:r>
              <a:rPr lang="en-US"/>
              <a:t/>
            </a:r>
          </a:p>
          <a:p>
            <a:r>
              <a:rPr lang="en-US"/>
              <a:t>Les critères de validations sont anticipés avant la mise en œuvre du projet, des les premières étapes.</a:t>
            </a:r>
          </a:p>
          <a:p>
            <a:r>
              <a:rPr lang="en-US"/>
              <a:t/>
            </a:r>
          </a:p>
          <a:p>
            <a:r>
              <a:rPr lang="en-US"/>
              <a:t>Ingénierie système</a:t>
            </a:r>
          </a:p>
          <a:p>
            <a:r>
              <a:rPr lang="en-US"/>
              <a:t>Découle de waterfall</a:t>
            </a:r>
          </a:p>
          <a:p>
            <a:r>
              <a:rPr lang="en-US"/>
              <a:t>linéaire et successif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Phase descendante :</a:t>
            </a:r>
          </a:p>
          <a:p>
            <a:r>
              <a:rPr lang="en-US"/>
              <a:t/>
            </a:r>
          </a:p>
          <a:p>
            <a:r>
              <a:rPr lang="en-US"/>
              <a:t>- Exigences :</a:t>
            </a:r>
          </a:p>
          <a:p>
            <a:r>
              <a:rPr lang="en-US"/>
              <a:t>     besoin client et métier</a:t>
            </a:r>
          </a:p>
          <a:p>
            <a:r>
              <a:rPr lang="en-US"/>
              <a:t>     éléments nécessaires, claire sans ambiguité, cohérence, vérifiable</a:t>
            </a:r>
          </a:p>
          <a:p>
            <a:r>
              <a:rPr lang="en-US"/>
              <a:t/>
            </a:r>
          </a:p>
          <a:p>
            <a:r>
              <a:rPr lang="en-US"/>
              <a:t>- Spécifications fonctionnelles :</a:t>
            </a:r>
          </a:p>
          <a:p>
            <a:r>
              <a:rPr lang="en-US"/>
              <a:t>CDC, gestion métier, user stories, wireframes maquettes, MCD, planification, use case UML, </a:t>
            </a:r>
          </a:p>
          <a:p>
            <a:r>
              <a:rPr lang="en-US"/>
              <a:t>stratégie de tests fonct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- Conception générale :</a:t>
            </a:r>
          </a:p>
          <a:p>
            <a:r>
              <a:rPr lang="en-US"/>
              <a:t>infra, choix tech, MLD, archi logicielle, contraintes tech,</a:t>
            </a:r>
          </a:p>
          <a:p>
            <a:r>
              <a:rPr lang="en-US"/>
              <a:t>stratégie d'intégration</a:t>
            </a:r>
          </a:p>
          <a:p>
            <a:r>
              <a:rPr lang="en-US"/>
              <a:t/>
            </a:r>
          </a:p>
          <a:p>
            <a:r>
              <a:rPr lang="en-US"/>
              <a:t>- Conception détaillée :</a:t>
            </a:r>
          </a:p>
          <a:p>
            <a:r>
              <a:rPr lang="en-US"/>
              <a:t>Structure interne produit</a:t>
            </a:r>
          </a:p>
          <a:p>
            <a:r>
              <a:rPr lang="en-US"/>
              <a:t>MPD, tickets, classe etat composants, unitaire et maintenance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+</a:t>
            </a:r>
          </a:p>
          <a:p>
            <a:r>
              <a:rPr lang="en-US"/>
              <a:t>Simple si besoins exprimé tôt</a:t>
            </a:r>
          </a:p>
          <a:p>
            <a:r>
              <a:rPr lang="en-US"/>
              <a:t>limite les interpretation entre client et equipe</a:t>
            </a:r>
          </a:p>
          <a:p>
            <a:r>
              <a:rPr lang="en-US"/>
              <a:t>tests de contrôle</a:t>
            </a:r>
          </a:p>
          <a:p>
            <a:r>
              <a:rPr lang="en-US"/>
              <a:t>detecte les incohérences avant dev</a:t>
            </a:r>
          </a:p>
          <a:p>
            <a:r>
              <a:rPr lang="en-US"/>
              <a:t>traçabilité via doc</a:t>
            </a:r>
          </a:p>
          <a:p>
            <a:r>
              <a:rPr lang="en-US"/>
              <a:t>visibilité pour la direction</a:t>
            </a:r>
          </a:p>
          <a:p>
            <a:r>
              <a:rPr lang="en-US"/>
              <a:t/>
            </a:r>
          </a:p>
          <a:p>
            <a:r>
              <a:rPr lang="en-US"/>
              <a:t>-</a:t>
            </a:r>
          </a:p>
          <a:p>
            <a:r>
              <a:rPr lang="en-US"/>
              <a:t>difficulté à gérer les changements</a:t>
            </a:r>
          </a:p>
          <a:p>
            <a:r>
              <a:rPr lang="en-US"/>
              <a:t>difficultés en cascades</a:t>
            </a:r>
          </a:p>
          <a:p>
            <a:r>
              <a:rPr lang="en-US"/>
              <a:t>sous estimer exigences et besoins</a:t>
            </a:r>
          </a:p>
          <a:p>
            <a:r>
              <a:rPr lang="en-US"/>
              <a:t>pas de retour des parties prenantes</a:t>
            </a:r>
          </a:p>
          <a:p>
            <a:r>
              <a:rPr lang="en-US"/>
              <a:t>Validation sous pression</a:t>
            </a:r>
          </a:p>
          <a:p>
            <a:r>
              <a:rPr lang="en-US"/>
              <a:t>inadapté aux projets longs et complexes</a:t>
            </a:r>
          </a:p>
          <a:p>
            <a:r>
              <a:rPr lang="en-US"/>
              <a:t/>
            </a:r>
          </a:p>
          <a:p>
            <a:r>
              <a:rPr lang="en-US"/>
              <a:t>Ici :</a:t>
            </a:r>
          </a:p>
          <a:p>
            <a:r>
              <a:rPr lang="en-US"/>
              <a:t>Sécurité :</a:t>
            </a:r>
          </a:p>
          <a:p>
            <a:r>
              <a:rPr lang="en-US"/>
              <a:t>   definir les exigences tres tot</a:t>
            </a:r>
          </a:p>
          <a:p>
            <a:r>
              <a:rPr lang="en-US"/>
              <a:t>Interaction avec equipements :</a:t>
            </a:r>
          </a:p>
          <a:p>
            <a:r>
              <a:rPr lang="en-US"/>
              <a:t>   précision et tests</a:t>
            </a:r>
          </a:p>
          <a:p>
            <a:r>
              <a:rPr lang="en-US"/>
              <a:t>Traçabilité :</a:t>
            </a:r>
          </a:p>
          <a:p>
            <a:r>
              <a:rPr lang="en-US"/>
              <a:t>   vérifier et valider chaque exigeance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Pour passer de l'exigence et des besoins à la recette :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6.jpeg" Type="http://schemas.openxmlformats.org/officeDocument/2006/relationships/image"/><Relationship Id="rId4" Target="../media/image17.jpeg" Type="http://schemas.openxmlformats.org/officeDocument/2006/relationships/image"/><Relationship Id="rId5" Target="../media/image18.jpe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jpeg" Type="http://schemas.openxmlformats.org/officeDocument/2006/relationships/image"/><Relationship Id="rId4" Target="../media/image18.jpe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11" r="0" b="-9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22118" y="-130088"/>
            <a:ext cx="2165882" cy="10417088"/>
            <a:chOff x="0" y="0"/>
            <a:chExt cx="570438" cy="27435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0438" cy="2743595"/>
            </a:xfrm>
            <a:custGeom>
              <a:avLst/>
              <a:gdLst/>
              <a:ahLst/>
              <a:cxnLst/>
              <a:rect r="r" b="b" t="t" l="l"/>
              <a:pathLst>
                <a:path h="2743595" w="570438">
                  <a:moveTo>
                    <a:pt x="0" y="0"/>
                  </a:moveTo>
                  <a:lnTo>
                    <a:pt x="570438" y="0"/>
                  </a:lnTo>
                  <a:lnTo>
                    <a:pt x="570438" y="2743595"/>
                  </a:lnTo>
                  <a:lnTo>
                    <a:pt x="0" y="2743595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70438" cy="278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0828128" y="5090064"/>
            <a:ext cx="10587979" cy="106871"/>
            <a:chOff x="0" y="0"/>
            <a:chExt cx="2788604" cy="281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8604" cy="28147"/>
            </a:xfrm>
            <a:custGeom>
              <a:avLst/>
              <a:gdLst/>
              <a:ahLst/>
              <a:cxnLst/>
              <a:rect r="r" b="b" t="t" l="l"/>
              <a:pathLst>
                <a:path h="28147" w="2788604">
                  <a:moveTo>
                    <a:pt x="0" y="0"/>
                  </a:moveTo>
                  <a:lnTo>
                    <a:pt x="2788604" y="0"/>
                  </a:lnTo>
                  <a:lnTo>
                    <a:pt x="2788604" y="28147"/>
                  </a:lnTo>
                  <a:lnTo>
                    <a:pt x="0" y="28147"/>
                  </a:lnTo>
                  <a:close/>
                </a:path>
              </a:pathLst>
            </a:custGeom>
            <a:solidFill>
              <a:srgbClr val="B38C7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88604" cy="66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24577" y="578584"/>
            <a:ext cx="599064" cy="900233"/>
          </a:xfrm>
          <a:custGeom>
            <a:avLst/>
            <a:gdLst/>
            <a:ahLst/>
            <a:cxnLst/>
            <a:rect r="r" b="b" t="t" l="l"/>
            <a:pathLst>
              <a:path h="900233" w="599064">
                <a:moveTo>
                  <a:pt x="0" y="0"/>
                </a:moveTo>
                <a:lnTo>
                  <a:pt x="599064" y="0"/>
                </a:lnTo>
                <a:lnTo>
                  <a:pt x="599064" y="900232"/>
                </a:lnTo>
                <a:lnTo>
                  <a:pt x="0" y="9002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17259300" y="1879850"/>
            <a:ext cx="0" cy="7378450"/>
          </a:xfrm>
          <a:prstGeom prst="line">
            <a:avLst/>
          </a:prstGeom>
          <a:ln cap="flat" w="19050">
            <a:solidFill>
              <a:srgbClr val="B38C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0" y="3812930"/>
            <a:ext cx="9344779" cy="2661140"/>
            <a:chOff x="0" y="0"/>
            <a:chExt cx="2794555" cy="7958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94555" cy="795814"/>
            </a:xfrm>
            <a:custGeom>
              <a:avLst/>
              <a:gdLst/>
              <a:ahLst/>
              <a:cxnLst/>
              <a:rect r="r" b="b" t="t" l="l"/>
              <a:pathLst>
                <a:path h="795814" w="2794555">
                  <a:moveTo>
                    <a:pt x="0" y="0"/>
                  </a:moveTo>
                  <a:lnTo>
                    <a:pt x="2794555" y="0"/>
                  </a:lnTo>
                  <a:lnTo>
                    <a:pt x="2794555" y="795814"/>
                  </a:lnTo>
                  <a:lnTo>
                    <a:pt x="0" y="795814"/>
                  </a:lnTo>
                  <a:close/>
                </a:path>
              </a:pathLst>
            </a:custGeom>
            <a:solidFill>
              <a:srgbClr val="002250">
                <a:alpha val="84706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94555" cy="833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44779" y="3812930"/>
            <a:ext cx="125824" cy="2661140"/>
            <a:chOff x="0" y="0"/>
            <a:chExt cx="37628" cy="7958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628" cy="795814"/>
            </a:xfrm>
            <a:custGeom>
              <a:avLst/>
              <a:gdLst/>
              <a:ahLst/>
              <a:cxnLst/>
              <a:rect r="r" b="b" t="t" l="l"/>
              <a:pathLst>
                <a:path h="795814" w="37628">
                  <a:moveTo>
                    <a:pt x="0" y="0"/>
                  </a:moveTo>
                  <a:lnTo>
                    <a:pt x="37628" y="0"/>
                  </a:lnTo>
                  <a:lnTo>
                    <a:pt x="37628" y="795814"/>
                  </a:lnTo>
                  <a:lnTo>
                    <a:pt x="0" y="795814"/>
                  </a:lnTo>
                  <a:close/>
                </a:path>
              </a:pathLst>
            </a:custGeom>
            <a:solidFill>
              <a:srgbClr val="B38C77">
                <a:alpha val="84706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7628" cy="833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30907" y="4267599"/>
            <a:ext cx="7889633" cy="195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7882" spc="-3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SMARTHOME CONTROL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5245"/>
            <a:ext cx="5883505" cy="10437489"/>
            <a:chOff x="0" y="0"/>
            <a:chExt cx="911509" cy="1617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1509" cy="1617040"/>
            </a:xfrm>
            <a:custGeom>
              <a:avLst/>
              <a:gdLst/>
              <a:ahLst/>
              <a:cxnLst/>
              <a:rect r="r" b="b" t="t" l="l"/>
              <a:pathLst>
                <a:path h="1617040" w="911509">
                  <a:moveTo>
                    <a:pt x="0" y="0"/>
                  </a:moveTo>
                  <a:lnTo>
                    <a:pt x="911509" y="0"/>
                  </a:lnTo>
                  <a:lnTo>
                    <a:pt x="911509" y="1617040"/>
                  </a:lnTo>
                  <a:lnTo>
                    <a:pt x="0" y="1617040"/>
                  </a:lnTo>
                  <a:close/>
                </a:path>
              </a:pathLst>
            </a:custGeom>
            <a:blipFill>
              <a:blip r:embed="rId2"/>
              <a:stretch>
                <a:fillRect l="-251447" t="0" r="-9578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589516" y="5090064"/>
            <a:ext cx="10587979" cy="106871"/>
            <a:chOff x="0" y="0"/>
            <a:chExt cx="2788604" cy="281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88604" cy="28147"/>
            </a:xfrm>
            <a:custGeom>
              <a:avLst/>
              <a:gdLst/>
              <a:ahLst/>
              <a:cxnLst/>
              <a:rect r="r" b="b" t="t" l="l"/>
              <a:pathLst>
                <a:path h="28147" w="2788604">
                  <a:moveTo>
                    <a:pt x="0" y="0"/>
                  </a:moveTo>
                  <a:lnTo>
                    <a:pt x="2788604" y="0"/>
                  </a:lnTo>
                  <a:lnTo>
                    <a:pt x="2788604" y="28147"/>
                  </a:lnTo>
                  <a:lnTo>
                    <a:pt x="0" y="28147"/>
                  </a:lnTo>
                  <a:close/>
                </a:path>
              </a:pathLst>
            </a:custGeom>
            <a:solidFill>
              <a:srgbClr val="B38C7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88604" cy="66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295435" y="1980307"/>
            <a:ext cx="6258584" cy="6816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Présentation du projet </a:t>
            </a: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Le Cycle en V</a:t>
            </a: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Pourquoi choisir le Cycle en V</a:t>
            </a: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Exigences et analyse du besoin</a:t>
            </a: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Spécifications fonctionnelles</a:t>
            </a: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Conception générale</a:t>
            </a: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Conception détailée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999356" y="1980307"/>
            <a:ext cx="776617" cy="6816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3</a:t>
            </a: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4</a:t>
            </a: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5</a:t>
            </a: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6</a:t>
            </a: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5</a:t>
            </a: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6</a:t>
            </a: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7</a:t>
            </a:r>
          </a:p>
        </p:txBody>
      </p:sp>
      <p:sp>
        <p:nvSpPr>
          <p:cNvPr name="AutoShape 9" id="9"/>
          <p:cNvSpPr/>
          <p:nvPr/>
        </p:nvSpPr>
        <p:spPr>
          <a:xfrm>
            <a:off x="7295435" y="3041236"/>
            <a:ext cx="9480537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7266860" y="4050886"/>
            <a:ext cx="9480537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295435" y="5148263"/>
            <a:ext cx="9480537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7266860" y="6157913"/>
            <a:ext cx="9480537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7266860" y="7253288"/>
            <a:ext cx="9480537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7266860" y="8145415"/>
            <a:ext cx="9480537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7266860" y="1103052"/>
            <a:ext cx="6258584" cy="93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47"/>
              </a:lnSpc>
            </a:pPr>
            <a:r>
              <a:rPr lang="en-US" sz="6226" spc="940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SOMMAIRE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295435" y="2033267"/>
            <a:ext cx="915323" cy="80965"/>
            <a:chOff x="0" y="0"/>
            <a:chExt cx="241073" cy="213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1073" cy="21324"/>
            </a:xfrm>
            <a:custGeom>
              <a:avLst/>
              <a:gdLst/>
              <a:ahLst/>
              <a:cxnLst/>
              <a:rect r="r" b="b" t="t" l="l"/>
              <a:pathLst>
                <a:path h="21324" w="241073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B38C7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34954" y="2619373"/>
            <a:ext cx="915323" cy="80965"/>
            <a:chOff x="0" y="0"/>
            <a:chExt cx="241073" cy="213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073" cy="21324"/>
            </a:xfrm>
            <a:custGeom>
              <a:avLst/>
              <a:gdLst/>
              <a:ahLst/>
              <a:cxnLst/>
              <a:rect r="r" b="b" t="t" l="l"/>
              <a:pathLst>
                <a:path h="21324" w="241073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B38C7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6421094" y="3858340"/>
            <a:ext cx="0" cy="4385452"/>
          </a:xfrm>
          <a:prstGeom prst="line">
            <a:avLst/>
          </a:prstGeom>
          <a:ln cap="flat" w="9525">
            <a:solidFill>
              <a:srgbClr val="B38C77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-1543050" y="0"/>
            <a:ext cx="3086100" cy="2700338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26864" y="5143500"/>
            <a:ext cx="6016441" cy="5174139"/>
            <a:chOff x="0" y="0"/>
            <a:chExt cx="6350000" cy="5461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9563" y="32385"/>
              <a:ext cx="6230874" cy="5396230"/>
            </a:xfrm>
            <a:custGeom>
              <a:avLst/>
              <a:gdLst/>
              <a:ahLst/>
              <a:cxnLst/>
              <a:rect r="r" b="b" t="t" l="l"/>
              <a:pathLst>
                <a:path h="5396230" w="6230874">
                  <a:moveTo>
                    <a:pt x="3115437" y="0"/>
                  </a:moveTo>
                  <a:lnTo>
                    <a:pt x="0" y="5396230"/>
                  </a:lnTo>
                  <a:lnTo>
                    <a:pt x="6230874" y="5396230"/>
                  </a:lnTo>
                  <a:close/>
                </a:path>
              </a:pathLst>
            </a:custGeom>
            <a:blipFill>
              <a:blip r:embed="rId3"/>
              <a:stretch>
                <a:fillRect l="-27561" t="0" r="-316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010100" y="-49689"/>
            <a:ext cx="5969975" cy="5134179"/>
            <a:chOff x="0" y="0"/>
            <a:chExt cx="6350000" cy="5461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9563" y="32385"/>
              <a:ext cx="6230874" cy="5396230"/>
            </a:xfrm>
            <a:custGeom>
              <a:avLst/>
              <a:gdLst/>
              <a:ahLst/>
              <a:cxnLst/>
              <a:rect r="r" b="b" t="t" l="l"/>
              <a:pathLst>
                <a:path h="5396230" w="6230874">
                  <a:moveTo>
                    <a:pt x="3115437" y="0"/>
                  </a:moveTo>
                  <a:lnTo>
                    <a:pt x="0" y="5396230"/>
                  </a:lnTo>
                  <a:lnTo>
                    <a:pt x="6230874" y="5396230"/>
                  </a:lnTo>
                  <a:close/>
                </a:path>
              </a:pathLst>
            </a:custGeom>
            <a:solidFill>
              <a:srgbClr val="23306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970778" y="-68739"/>
            <a:ext cx="5928613" cy="5134179"/>
            <a:chOff x="0" y="0"/>
            <a:chExt cx="6350000" cy="5499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5499100"/>
            </a:xfrm>
            <a:custGeom>
              <a:avLst/>
              <a:gdLst/>
              <a:ahLst/>
              <a:cxnLst/>
              <a:rect r="r" b="b" t="t" l="l"/>
              <a:pathLst>
                <a:path h="5499100" w="6350000">
                  <a:moveTo>
                    <a:pt x="3175000" y="0"/>
                  </a:moveTo>
                  <a:lnTo>
                    <a:pt x="0" y="0"/>
                  </a:lnTo>
                  <a:lnTo>
                    <a:pt x="1587500" y="2749550"/>
                  </a:lnTo>
                  <a:lnTo>
                    <a:pt x="3175000" y="5499100"/>
                  </a:lnTo>
                  <a:lnTo>
                    <a:pt x="4762500" y="274955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4"/>
              <a:stretch>
                <a:fillRect l="-14990" t="0" r="-1499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267263" y="9756873"/>
            <a:ext cx="4710263" cy="2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b="true" sz="1309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3</a:t>
            </a:r>
          </a:p>
        </p:txBody>
      </p:sp>
      <p:grpSp>
        <p:nvGrpSpPr>
          <p:cNvPr name="Group 16" id="16"/>
          <p:cNvGrpSpPr/>
          <p:nvPr/>
        </p:nvGrpSpPr>
        <p:grpSpPr>
          <a:xfrm rot="-10800000">
            <a:off x="13972000" y="5103132"/>
            <a:ext cx="6027753" cy="5183868"/>
            <a:chOff x="0" y="0"/>
            <a:chExt cx="6350000" cy="5461000"/>
          </a:xfrm>
        </p:grpSpPr>
        <p:sp>
          <p:nvSpPr>
            <p:cNvPr name="Freeform 17" id="17"/>
            <p:cNvSpPr/>
            <p:nvPr/>
          </p:nvSpPr>
          <p:spPr>
            <a:xfrm flipH="false" flipV="false" rot="-10800000">
              <a:off x="59563" y="32385"/>
              <a:ext cx="6230874" cy="5396230"/>
            </a:xfrm>
            <a:custGeom>
              <a:avLst/>
              <a:gdLst/>
              <a:ahLst/>
              <a:cxnLst/>
              <a:rect r="r" b="b" t="t" l="l"/>
              <a:pathLst>
                <a:path h="5396230" w="6230874">
                  <a:moveTo>
                    <a:pt x="3115437" y="5396230"/>
                  </a:moveTo>
                  <a:lnTo>
                    <a:pt x="6230874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635" t="0" r="-25353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8924018" y="1139425"/>
            <a:ext cx="1217512" cy="1560913"/>
          </a:xfrm>
          <a:custGeom>
            <a:avLst/>
            <a:gdLst/>
            <a:ahLst/>
            <a:cxnLst/>
            <a:rect r="r" b="b" t="t" l="l"/>
            <a:pathLst>
              <a:path h="1560913" w="1217512">
                <a:moveTo>
                  <a:pt x="0" y="0"/>
                </a:moveTo>
                <a:lnTo>
                  <a:pt x="1217512" y="0"/>
                </a:lnTo>
                <a:lnTo>
                  <a:pt x="1217512" y="1560912"/>
                </a:lnTo>
                <a:lnTo>
                  <a:pt x="0" y="15609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281710" y="7857131"/>
            <a:ext cx="2278768" cy="2073679"/>
          </a:xfrm>
          <a:custGeom>
            <a:avLst/>
            <a:gdLst/>
            <a:ahLst/>
            <a:cxnLst/>
            <a:rect r="r" b="b" t="t" l="l"/>
            <a:pathLst>
              <a:path h="2073679" w="2278768">
                <a:moveTo>
                  <a:pt x="0" y="0"/>
                </a:moveTo>
                <a:lnTo>
                  <a:pt x="2278768" y="0"/>
                </a:lnTo>
                <a:lnTo>
                  <a:pt x="2278768" y="2073679"/>
                </a:lnTo>
                <a:lnTo>
                  <a:pt x="0" y="20736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032522" y="3759986"/>
            <a:ext cx="4222956" cy="334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spc="2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Blocs principaux :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  <a:r>
              <a:rPr lang="en-US" sz="2799" spc="2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Utilisateur</a:t>
            </a:r>
          </a:p>
          <a:p>
            <a:pPr algn="l">
              <a:lnSpc>
                <a:spcPts val="4479"/>
              </a:lnSpc>
            </a:pPr>
            <a:r>
              <a:rPr lang="en-US" sz="2799" spc="2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Équipement</a:t>
            </a:r>
          </a:p>
          <a:p>
            <a:pPr algn="l">
              <a:lnSpc>
                <a:spcPts val="4479"/>
              </a:lnSpc>
            </a:pPr>
            <a:r>
              <a:rPr lang="en-US" sz="2799" spc="2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Automatisation</a:t>
            </a:r>
          </a:p>
          <a:p>
            <a:pPr algn="l">
              <a:lnSpc>
                <a:spcPts val="4479"/>
              </a:lnSpc>
            </a:pPr>
            <a:r>
              <a:rPr lang="en-US" sz="2799" spc="26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Sécurité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8433" y="3759986"/>
            <a:ext cx="5201023" cy="390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spc="2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SmartHome Control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  <a:r>
              <a:rPr lang="en-US" sz="2799" spc="2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Une plateforme centralisée :</a:t>
            </a:r>
          </a:p>
          <a:p>
            <a:pPr algn="l">
              <a:lnSpc>
                <a:spcPts val="4479"/>
              </a:lnSpc>
            </a:pPr>
            <a:r>
              <a:rPr lang="en-US" sz="2799" spc="2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superviser</a:t>
            </a:r>
          </a:p>
          <a:p>
            <a:pPr algn="l">
              <a:lnSpc>
                <a:spcPts val="4479"/>
              </a:lnSpc>
            </a:pPr>
            <a:r>
              <a:rPr lang="en-US" sz="2799" spc="2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contrôler </a:t>
            </a:r>
          </a:p>
          <a:p>
            <a:pPr algn="l">
              <a:lnSpc>
                <a:spcPts val="4479"/>
              </a:lnSpc>
            </a:pPr>
            <a:r>
              <a:rPr lang="en-US" sz="2799" spc="26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automatiser les équipements d’un logement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34954" y="1903298"/>
            <a:ext cx="5784615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Présentation du projet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9200" y="1903298"/>
            <a:ext cx="469753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35028" y="1793197"/>
            <a:ext cx="915323" cy="80965"/>
            <a:chOff x="0" y="0"/>
            <a:chExt cx="241073" cy="213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073" cy="21324"/>
            </a:xfrm>
            <a:custGeom>
              <a:avLst/>
              <a:gdLst/>
              <a:ahLst/>
              <a:cxnLst/>
              <a:rect r="r" b="b" t="t" l="l"/>
              <a:pathLst>
                <a:path h="21324" w="241073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B38C7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543050" y="0"/>
            <a:ext cx="3086100" cy="2700338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419920" y="2973661"/>
            <a:ext cx="11448159" cy="6389504"/>
          </a:xfrm>
          <a:custGeom>
            <a:avLst/>
            <a:gdLst/>
            <a:ahLst/>
            <a:cxnLst/>
            <a:rect r="r" b="b" t="t" l="l"/>
            <a:pathLst>
              <a:path h="6389504" w="11448159">
                <a:moveTo>
                  <a:pt x="0" y="0"/>
                </a:moveTo>
                <a:lnTo>
                  <a:pt x="11448160" y="0"/>
                </a:lnTo>
                <a:lnTo>
                  <a:pt x="11448160" y="6389504"/>
                </a:lnTo>
                <a:lnTo>
                  <a:pt x="0" y="63895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35028" y="1057275"/>
            <a:ext cx="10521489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b="true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 Cycle en V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67263" y="9756873"/>
            <a:ext cx="4710263" cy="2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b="true" sz="1309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3050" y="1038225"/>
            <a:ext cx="652490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0"/>
            <a:ext cx="3086100" cy="2700338"/>
            <a:chOff x="0" y="0"/>
            <a:chExt cx="812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42835" y="1691935"/>
            <a:ext cx="915323" cy="80965"/>
            <a:chOff x="0" y="0"/>
            <a:chExt cx="241073" cy="213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1073" cy="21324"/>
            </a:xfrm>
            <a:custGeom>
              <a:avLst/>
              <a:gdLst/>
              <a:ahLst/>
              <a:cxnLst/>
              <a:rect r="r" b="b" t="t" l="l"/>
              <a:pathLst>
                <a:path h="21324" w="241073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B38C7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238671" y="3378307"/>
            <a:ext cx="2055649" cy="2349313"/>
          </a:xfrm>
          <a:custGeom>
            <a:avLst/>
            <a:gdLst/>
            <a:ahLst/>
            <a:cxnLst/>
            <a:rect r="r" b="b" t="t" l="l"/>
            <a:pathLst>
              <a:path h="2349313" w="2055649">
                <a:moveTo>
                  <a:pt x="0" y="0"/>
                </a:moveTo>
                <a:lnTo>
                  <a:pt x="2055648" y="0"/>
                </a:lnTo>
                <a:lnTo>
                  <a:pt x="2055648" y="2349313"/>
                </a:lnTo>
                <a:lnTo>
                  <a:pt x="0" y="23493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044492" y="7243018"/>
            <a:ext cx="4444007" cy="2199783"/>
          </a:xfrm>
          <a:custGeom>
            <a:avLst/>
            <a:gdLst/>
            <a:ahLst/>
            <a:cxnLst/>
            <a:rect r="r" b="b" t="t" l="l"/>
            <a:pathLst>
              <a:path h="2199783" w="4444007">
                <a:moveTo>
                  <a:pt x="0" y="0"/>
                </a:moveTo>
                <a:lnTo>
                  <a:pt x="4444007" y="0"/>
                </a:lnTo>
                <a:lnTo>
                  <a:pt x="4444007" y="2199783"/>
                </a:lnTo>
                <a:lnTo>
                  <a:pt x="0" y="2199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174507" y="7332900"/>
            <a:ext cx="2013187" cy="2274787"/>
          </a:xfrm>
          <a:custGeom>
            <a:avLst/>
            <a:gdLst/>
            <a:ahLst/>
            <a:cxnLst/>
            <a:rect r="r" b="b" t="t" l="l"/>
            <a:pathLst>
              <a:path h="2274787" w="2013187">
                <a:moveTo>
                  <a:pt x="0" y="0"/>
                </a:moveTo>
                <a:lnTo>
                  <a:pt x="2013187" y="0"/>
                </a:lnTo>
                <a:lnTo>
                  <a:pt x="2013187" y="2274787"/>
                </a:lnTo>
                <a:lnTo>
                  <a:pt x="0" y="22747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464235" y="3324302"/>
            <a:ext cx="2841468" cy="2841468"/>
          </a:xfrm>
          <a:custGeom>
            <a:avLst/>
            <a:gdLst/>
            <a:ahLst/>
            <a:cxnLst/>
            <a:rect r="r" b="b" t="t" l="l"/>
            <a:pathLst>
              <a:path h="2841468" w="2841468">
                <a:moveTo>
                  <a:pt x="0" y="0"/>
                </a:moveTo>
                <a:lnTo>
                  <a:pt x="2841468" y="0"/>
                </a:lnTo>
                <a:lnTo>
                  <a:pt x="2841468" y="2841468"/>
                </a:lnTo>
                <a:lnTo>
                  <a:pt x="0" y="28414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267263" y="9756873"/>
            <a:ext cx="4710263" cy="2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b="true" sz="1309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0857" y="936963"/>
            <a:ext cx="652490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42835" y="956013"/>
            <a:ext cx="7421450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b="true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Pourquoi choisir le Cycle en V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95355" y="2521189"/>
            <a:ext cx="134228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Sécurité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74507" y="2521189"/>
            <a:ext cx="134228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Fiabilité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11178" y="6480095"/>
            <a:ext cx="471063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Exigence clairement définies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64235" y="6480095"/>
            <a:ext cx="319638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Traçabilité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267263" y="9756873"/>
            <a:ext cx="4710263" cy="2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b="true" sz="1309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543050" y="0"/>
            <a:ext cx="3086100" cy="2700338"/>
            <a:chOff x="0" y="0"/>
            <a:chExt cx="812800" cy="711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933980" y="1785627"/>
            <a:ext cx="915323" cy="80965"/>
            <a:chOff x="0" y="0"/>
            <a:chExt cx="241073" cy="213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1073" cy="21324"/>
            </a:xfrm>
            <a:custGeom>
              <a:avLst/>
              <a:gdLst/>
              <a:ahLst/>
              <a:cxnLst/>
              <a:rect r="r" b="b" t="t" l="l"/>
              <a:pathLst>
                <a:path h="21324" w="241073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B38C7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26864" y="5143500"/>
            <a:ext cx="6016441" cy="5174139"/>
            <a:chOff x="0" y="0"/>
            <a:chExt cx="6350000" cy="5461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9563" y="32385"/>
              <a:ext cx="6230874" cy="5396230"/>
            </a:xfrm>
            <a:custGeom>
              <a:avLst/>
              <a:gdLst/>
              <a:ahLst/>
              <a:cxnLst/>
              <a:rect r="r" b="b" t="t" l="l"/>
              <a:pathLst>
                <a:path h="5396230" w="6230874">
                  <a:moveTo>
                    <a:pt x="3115437" y="0"/>
                  </a:moveTo>
                  <a:lnTo>
                    <a:pt x="0" y="5396230"/>
                  </a:lnTo>
                  <a:lnTo>
                    <a:pt x="6230874" y="5396230"/>
                  </a:lnTo>
                  <a:close/>
                </a:path>
              </a:pathLst>
            </a:custGeom>
            <a:blipFill>
              <a:blip r:embed="rId3"/>
              <a:stretch>
                <a:fillRect l="-53653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010100" y="-49689"/>
            <a:ext cx="5969975" cy="5134179"/>
            <a:chOff x="0" y="0"/>
            <a:chExt cx="6350000" cy="5461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9563" y="32385"/>
              <a:ext cx="6230874" cy="5396230"/>
            </a:xfrm>
            <a:custGeom>
              <a:avLst/>
              <a:gdLst/>
              <a:ahLst/>
              <a:cxnLst/>
              <a:rect r="r" b="b" t="t" l="l"/>
              <a:pathLst>
                <a:path h="5396230" w="6230874">
                  <a:moveTo>
                    <a:pt x="3115437" y="0"/>
                  </a:moveTo>
                  <a:lnTo>
                    <a:pt x="0" y="5396230"/>
                  </a:lnTo>
                  <a:lnTo>
                    <a:pt x="6230874" y="5396230"/>
                  </a:lnTo>
                  <a:close/>
                </a:path>
              </a:pathLst>
            </a:custGeom>
            <a:blipFill>
              <a:blip r:embed="rId4"/>
              <a:stretch>
                <a:fillRect l="-10601" t="0" r="-1060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970778" y="-68739"/>
            <a:ext cx="5928613" cy="5134179"/>
            <a:chOff x="0" y="0"/>
            <a:chExt cx="6350000" cy="5499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5499100"/>
            </a:xfrm>
            <a:custGeom>
              <a:avLst/>
              <a:gdLst/>
              <a:ahLst/>
              <a:cxnLst/>
              <a:rect r="r" b="b" t="t" l="l"/>
              <a:pathLst>
                <a:path h="5499100" w="6350000">
                  <a:moveTo>
                    <a:pt x="3175000" y="0"/>
                  </a:moveTo>
                  <a:lnTo>
                    <a:pt x="0" y="0"/>
                  </a:lnTo>
                  <a:lnTo>
                    <a:pt x="1587500" y="2749550"/>
                  </a:lnTo>
                  <a:lnTo>
                    <a:pt x="3175000" y="5499100"/>
                  </a:lnTo>
                  <a:lnTo>
                    <a:pt x="4762500" y="2749550"/>
                  </a:lnTo>
                  <a:lnTo>
                    <a:pt x="6350000" y="0"/>
                  </a:lnTo>
                  <a:close/>
                </a:path>
              </a:pathLst>
            </a:custGeom>
            <a:solidFill>
              <a:srgbClr val="23306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-10800000">
            <a:off x="13972000" y="5103132"/>
            <a:ext cx="6027753" cy="5183868"/>
            <a:chOff x="0" y="0"/>
            <a:chExt cx="6350000" cy="5461000"/>
          </a:xfrm>
        </p:grpSpPr>
        <p:sp>
          <p:nvSpPr>
            <p:cNvPr name="Freeform 16" id="16"/>
            <p:cNvSpPr/>
            <p:nvPr/>
          </p:nvSpPr>
          <p:spPr>
            <a:xfrm flipH="false" flipV="false" rot="-10800000">
              <a:off x="59563" y="32385"/>
              <a:ext cx="6230874" cy="5396230"/>
            </a:xfrm>
            <a:custGeom>
              <a:avLst/>
              <a:gdLst/>
              <a:ahLst/>
              <a:cxnLst/>
              <a:rect r="r" b="b" t="t" l="l"/>
              <a:pathLst>
                <a:path h="5396230" w="6230874">
                  <a:moveTo>
                    <a:pt x="3115437" y="5396230"/>
                  </a:moveTo>
                  <a:lnTo>
                    <a:pt x="6230874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7020" r="0" b="-16288"/>
              </a:stretch>
            </a:blipFill>
          </p:spPr>
        </p:sp>
      </p:grpSp>
      <p:sp>
        <p:nvSpPr>
          <p:cNvPr name="AutoShape 17" id="17"/>
          <p:cNvSpPr/>
          <p:nvPr/>
        </p:nvSpPr>
        <p:spPr>
          <a:xfrm>
            <a:off x="1297808" y="5545654"/>
            <a:ext cx="9672970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6051754" y="2700337"/>
            <a:ext cx="0" cy="5907584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5736052" y="5229952"/>
            <a:ext cx="631404" cy="63140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5633137" y="5127037"/>
            <a:ext cx="837232" cy="837232"/>
          </a:xfrm>
          <a:custGeom>
            <a:avLst/>
            <a:gdLst/>
            <a:ahLst/>
            <a:cxnLst/>
            <a:rect r="r" b="b" t="t" l="l"/>
            <a:pathLst>
              <a:path h="837232" w="837232">
                <a:moveTo>
                  <a:pt x="0" y="0"/>
                </a:moveTo>
                <a:lnTo>
                  <a:pt x="837233" y="0"/>
                </a:lnTo>
                <a:lnTo>
                  <a:pt x="837233" y="837233"/>
                </a:lnTo>
                <a:lnTo>
                  <a:pt x="0" y="8372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42002" y="1069553"/>
            <a:ext cx="652490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33980" y="1038225"/>
            <a:ext cx="7929297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b="true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Exigences et analyse du besoin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5847" y="3697402"/>
            <a:ext cx="3673990" cy="1475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8"/>
              </a:lnSpc>
            </a:pPr>
            <a:r>
              <a:rPr lang="en-US" sz="1677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Centraliser le contrôle et la supervision d’une maison connectée.</a:t>
            </a:r>
          </a:p>
          <a:p>
            <a:pPr algn="ctr">
              <a:lnSpc>
                <a:spcPts val="2348"/>
              </a:lnSpc>
            </a:pPr>
            <a:r>
              <a:rPr lang="en-US" sz="1677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Simplicité efficacité sécurité et accessibilité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44458" y="3735937"/>
            <a:ext cx="3673990" cy="1475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8"/>
              </a:lnSpc>
            </a:pPr>
            <a:r>
              <a:rPr lang="en-US" sz="1677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Gestion des utilisateurs, des foyers, des équipements, des automatisations, notifications et historique.</a:t>
            </a:r>
          </a:p>
          <a:p>
            <a:pPr algn="ctr">
              <a:lnSpc>
                <a:spcPts val="2348"/>
              </a:lnSpc>
            </a:pPr>
            <a:r>
              <a:rPr lang="en-US" sz="1677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MVP : fonctionnalités essentielles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7808" y="7132755"/>
            <a:ext cx="3673990" cy="177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8"/>
              </a:lnSpc>
            </a:pPr>
            <a:r>
              <a:rPr lang="en-US" sz="1677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Décrire les besoins à travers des actions concrètes</a:t>
            </a:r>
          </a:p>
          <a:p>
            <a:pPr algn="ctr">
              <a:lnSpc>
                <a:spcPts val="2348"/>
              </a:lnSpc>
            </a:pPr>
            <a:r>
              <a:rPr lang="en-US" sz="1677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Authentification, gestion des comptes, des permissions, foyers, équipements, automatisations et notifications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178903" y="7132755"/>
            <a:ext cx="3673990" cy="207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8"/>
              </a:lnSpc>
            </a:pPr>
            <a:r>
              <a:rPr lang="en-US" sz="1677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Garantir un haut niveau de sécurité, de disponibilité, de performance.</a:t>
            </a:r>
          </a:p>
          <a:p>
            <a:pPr algn="ctr">
              <a:lnSpc>
                <a:spcPts val="2348"/>
              </a:lnSpc>
            </a:pPr>
            <a:r>
              <a:rPr lang="en-US" sz="1677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Architecture résiliente et maintenable</a:t>
            </a:r>
          </a:p>
          <a:p>
            <a:pPr algn="ctr">
              <a:lnSpc>
                <a:spcPts val="2348"/>
              </a:lnSpc>
            </a:pPr>
            <a:r>
              <a:rPr lang="en-US" sz="1677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Conformité RGPD</a:t>
            </a:r>
          </a:p>
          <a:p>
            <a:pPr algn="ctr">
              <a:lnSpc>
                <a:spcPts val="2348"/>
              </a:lnSpc>
            </a:pPr>
            <a:r>
              <a:rPr lang="en-US" sz="1677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Opérations sensibiles traçables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71407" y="3008107"/>
            <a:ext cx="3242870" cy="31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9"/>
              </a:lnSpc>
            </a:pPr>
            <a:r>
              <a:rPr lang="en-US" sz="2084" spc="-41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Besoin client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71407" y="6390411"/>
            <a:ext cx="3242870" cy="31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9"/>
              </a:lnSpc>
            </a:pPr>
            <a:r>
              <a:rPr lang="en-US" sz="2084" spc="-41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User stories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234919" y="3022622"/>
            <a:ext cx="3242870" cy="31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9"/>
              </a:lnSpc>
            </a:pPr>
            <a:r>
              <a:rPr lang="en-US" sz="2084" spc="-41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Cahier des charges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234919" y="6097156"/>
            <a:ext cx="3242870" cy="620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9"/>
              </a:lnSpc>
            </a:pPr>
            <a:r>
              <a:rPr lang="en-US" sz="2084" spc="-41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Exigences non fonctionnelles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267263" y="9756873"/>
            <a:ext cx="4710263" cy="2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b="true" sz="1309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543050" y="0"/>
            <a:ext cx="3086100" cy="2700338"/>
            <a:chOff x="0" y="0"/>
            <a:chExt cx="812800" cy="711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43050" y="3501161"/>
            <a:ext cx="4438755" cy="3284679"/>
          </a:xfrm>
          <a:custGeom>
            <a:avLst/>
            <a:gdLst/>
            <a:ahLst/>
            <a:cxnLst/>
            <a:rect r="r" b="b" t="t" l="l"/>
            <a:pathLst>
              <a:path h="3284679" w="4438755">
                <a:moveTo>
                  <a:pt x="0" y="0"/>
                </a:moveTo>
                <a:lnTo>
                  <a:pt x="4438755" y="0"/>
                </a:lnTo>
                <a:lnTo>
                  <a:pt x="4438755" y="3284678"/>
                </a:lnTo>
                <a:lnTo>
                  <a:pt x="0" y="328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86729" y="780914"/>
            <a:ext cx="8785180" cy="8725172"/>
          </a:xfrm>
          <a:custGeom>
            <a:avLst/>
            <a:gdLst/>
            <a:ahLst/>
            <a:cxnLst/>
            <a:rect r="r" b="b" t="t" l="l"/>
            <a:pathLst>
              <a:path h="8725172" w="8785180">
                <a:moveTo>
                  <a:pt x="0" y="0"/>
                </a:moveTo>
                <a:lnTo>
                  <a:pt x="8785180" y="0"/>
                </a:lnTo>
                <a:lnTo>
                  <a:pt x="8785180" y="8725172"/>
                </a:lnTo>
                <a:lnTo>
                  <a:pt x="0" y="872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0"/>
            <a:ext cx="3086100" cy="2700338"/>
            <a:chOff x="0" y="0"/>
            <a:chExt cx="812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11178" y="2700338"/>
            <a:ext cx="915323" cy="80965"/>
            <a:chOff x="0" y="0"/>
            <a:chExt cx="241073" cy="213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1073" cy="21324"/>
            </a:xfrm>
            <a:custGeom>
              <a:avLst/>
              <a:gdLst/>
              <a:ahLst/>
              <a:cxnLst/>
              <a:rect r="r" b="b" t="t" l="l"/>
              <a:pathLst>
                <a:path h="21324" w="241073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B38C7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112987" y="3153013"/>
            <a:ext cx="2414602" cy="2610381"/>
          </a:xfrm>
          <a:custGeom>
            <a:avLst/>
            <a:gdLst/>
            <a:ahLst/>
            <a:cxnLst/>
            <a:rect r="r" b="b" t="t" l="l"/>
            <a:pathLst>
              <a:path h="2610381" w="2414602">
                <a:moveTo>
                  <a:pt x="0" y="0"/>
                </a:moveTo>
                <a:lnTo>
                  <a:pt x="2414602" y="0"/>
                </a:lnTo>
                <a:lnTo>
                  <a:pt x="2414602" y="2610381"/>
                </a:lnTo>
                <a:lnTo>
                  <a:pt x="0" y="2610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081076" y="2484704"/>
            <a:ext cx="3042742" cy="2844964"/>
          </a:xfrm>
          <a:custGeom>
            <a:avLst/>
            <a:gdLst/>
            <a:ahLst/>
            <a:cxnLst/>
            <a:rect r="r" b="b" t="t" l="l"/>
            <a:pathLst>
              <a:path h="2844964" w="3042742">
                <a:moveTo>
                  <a:pt x="0" y="0"/>
                </a:moveTo>
                <a:lnTo>
                  <a:pt x="3042743" y="0"/>
                </a:lnTo>
                <a:lnTo>
                  <a:pt x="3042743" y="2844964"/>
                </a:lnTo>
                <a:lnTo>
                  <a:pt x="0" y="28449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0846" y="5885956"/>
            <a:ext cx="8518883" cy="2951515"/>
          </a:xfrm>
          <a:custGeom>
            <a:avLst/>
            <a:gdLst/>
            <a:ahLst/>
            <a:cxnLst/>
            <a:rect r="r" b="b" t="t" l="l"/>
            <a:pathLst>
              <a:path h="2951515" w="8518883">
                <a:moveTo>
                  <a:pt x="0" y="0"/>
                </a:moveTo>
                <a:lnTo>
                  <a:pt x="8518884" y="0"/>
                </a:lnTo>
                <a:lnTo>
                  <a:pt x="8518884" y="2951515"/>
                </a:lnTo>
                <a:lnTo>
                  <a:pt x="0" y="29515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579730" y="5579425"/>
            <a:ext cx="9574559" cy="3817722"/>
          </a:xfrm>
          <a:custGeom>
            <a:avLst/>
            <a:gdLst/>
            <a:ahLst/>
            <a:cxnLst/>
            <a:rect r="r" b="b" t="t" l="l"/>
            <a:pathLst>
              <a:path h="3817722" w="9574559">
                <a:moveTo>
                  <a:pt x="0" y="0"/>
                </a:moveTo>
                <a:lnTo>
                  <a:pt x="9574559" y="0"/>
                </a:lnTo>
                <a:lnTo>
                  <a:pt x="9574559" y="3817722"/>
                </a:lnTo>
                <a:lnTo>
                  <a:pt x="0" y="38177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5838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040249" y="9756873"/>
            <a:ext cx="937277" cy="2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b="true" sz="1309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9200" y="1903298"/>
            <a:ext cx="652490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11178" y="1867314"/>
            <a:ext cx="7232822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b="true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Spécifications fonctionnelles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865831" y="9756873"/>
            <a:ext cx="111696" cy="2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b="true" sz="1309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543050" y="0"/>
            <a:ext cx="3086100" cy="2700338"/>
            <a:chOff x="0" y="0"/>
            <a:chExt cx="812800" cy="711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913478" y="1895455"/>
            <a:ext cx="915323" cy="80965"/>
            <a:chOff x="0" y="0"/>
            <a:chExt cx="241073" cy="213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1073" cy="21324"/>
            </a:xfrm>
            <a:custGeom>
              <a:avLst/>
              <a:gdLst/>
              <a:ahLst/>
              <a:cxnLst/>
              <a:rect r="r" b="b" t="t" l="l"/>
              <a:pathLst>
                <a:path h="21324" w="241073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B38C7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26864" y="5143500"/>
            <a:ext cx="6016441" cy="5174139"/>
            <a:chOff x="0" y="0"/>
            <a:chExt cx="6350000" cy="5461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9563" y="32385"/>
              <a:ext cx="6230874" cy="5396230"/>
            </a:xfrm>
            <a:custGeom>
              <a:avLst/>
              <a:gdLst/>
              <a:ahLst/>
              <a:cxnLst/>
              <a:rect r="r" b="b" t="t" l="l"/>
              <a:pathLst>
                <a:path h="5396230" w="6230874">
                  <a:moveTo>
                    <a:pt x="3115437" y="0"/>
                  </a:moveTo>
                  <a:lnTo>
                    <a:pt x="0" y="5396230"/>
                  </a:lnTo>
                  <a:lnTo>
                    <a:pt x="6230874" y="5396230"/>
                  </a:lnTo>
                  <a:close/>
                </a:path>
              </a:pathLst>
            </a:custGeom>
            <a:blipFill>
              <a:blip r:embed="rId2"/>
              <a:stretch>
                <a:fillRect l="-53653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010100" y="-49689"/>
            <a:ext cx="5969975" cy="5134179"/>
            <a:chOff x="0" y="0"/>
            <a:chExt cx="6350000" cy="5461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9563" y="32385"/>
              <a:ext cx="6230874" cy="5396230"/>
            </a:xfrm>
            <a:custGeom>
              <a:avLst/>
              <a:gdLst/>
              <a:ahLst/>
              <a:cxnLst/>
              <a:rect r="r" b="b" t="t" l="l"/>
              <a:pathLst>
                <a:path h="5396230" w="6230874">
                  <a:moveTo>
                    <a:pt x="3115437" y="0"/>
                  </a:moveTo>
                  <a:lnTo>
                    <a:pt x="0" y="5396230"/>
                  </a:lnTo>
                  <a:lnTo>
                    <a:pt x="6230874" y="5396230"/>
                  </a:lnTo>
                  <a:close/>
                </a:path>
              </a:pathLst>
            </a:custGeom>
            <a:blipFill>
              <a:blip r:embed="rId3"/>
              <a:stretch>
                <a:fillRect l="-10601" t="0" r="-1060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970778" y="-68739"/>
            <a:ext cx="5928613" cy="5134179"/>
            <a:chOff x="0" y="0"/>
            <a:chExt cx="6350000" cy="5499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5499100"/>
            </a:xfrm>
            <a:custGeom>
              <a:avLst/>
              <a:gdLst/>
              <a:ahLst/>
              <a:cxnLst/>
              <a:rect r="r" b="b" t="t" l="l"/>
              <a:pathLst>
                <a:path h="5499100" w="6350000">
                  <a:moveTo>
                    <a:pt x="3175000" y="0"/>
                  </a:moveTo>
                  <a:lnTo>
                    <a:pt x="0" y="0"/>
                  </a:lnTo>
                  <a:lnTo>
                    <a:pt x="1587500" y="2749550"/>
                  </a:lnTo>
                  <a:lnTo>
                    <a:pt x="3175000" y="5499100"/>
                  </a:lnTo>
                  <a:lnTo>
                    <a:pt x="4762500" y="2749550"/>
                  </a:lnTo>
                  <a:lnTo>
                    <a:pt x="6350000" y="0"/>
                  </a:lnTo>
                  <a:close/>
                </a:path>
              </a:pathLst>
            </a:custGeom>
            <a:solidFill>
              <a:srgbClr val="23306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-10800000">
            <a:off x="14010100" y="5156483"/>
            <a:ext cx="6027753" cy="5183868"/>
            <a:chOff x="0" y="0"/>
            <a:chExt cx="6350000" cy="5461000"/>
          </a:xfrm>
        </p:grpSpPr>
        <p:sp>
          <p:nvSpPr>
            <p:cNvPr name="Freeform 16" id="16"/>
            <p:cNvSpPr/>
            <p:nvPr/>
          </p:nvSpPr>
          <p:spPr>
            <a:xfrm flipH="false" flipV="false" rot="-10800000">
              <a:off x="59563" y="32385"/>
              <a:ext cx="6230874" cy="5396230"/>
            </a:xfrm>
            <a:custGeom>
              <a:avLst/>
              <a:gdLst/>
              <a:ahLst/>
              <a:cxnLst/>
              <a:rect r="r" b="b" t="t" l="l"/>
              <a:pathLst>
                <a:path h="5396230" w="6230874">
                  <a:moveTo>
                    <a:pt x="3115437" y="5396230"/>
                  </a:moveTo>
                  <a:lnTo>
                    <a:pt x="6230874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7020" r="0" b="-16288"/>
              </a:stretch>
            </a:blipFill>
          </p:spPr>
        </p:sp>
      </p:grpSp>
      <p:sp>
        <p:nvSpPr>
          <p:cNvPr name="AutoShape 17" id="17"/>
          <p:cNvSpPr/>
          <p:nvPr/>
        </p:nvSpPr>
        <p:spPr>
          <a:xfrm>
            <a:off x="747258" y="5611737"/>
            <a:ext cx="10519542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5917266" y="2517400"/>
            <a:ext cx="0" cy="6424612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5573934" y="5268405"/>
            <a:ext cx="686664" cy="68666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5462013" y="5156483"/>
            <a:ext cx="910506" cy="910506"/>
          </a:xfrm>
          <a:custGeom>
            <a:avLst/>
            <a:gdLst/>
            <a:ahLst/>
            <a:cxnLst/>
            <a:rect r="r" b="b" t="t" l="l"/>
            <a:pathLst>
              <a:path h="910506" w="910506">
                <a:moveTo>
                  <a:pt x="0" y="0"/>
                </a:moveTo>
                <a:lnTo>
                  <a:pt x="910506" y="0"/>
                </a:lnTo>
                <a:lnTo>
                  <a:pt x="910506" y="910507"/>
                </a:lnTo>
                <a:lnTo>
                  <a:pt x="0" y="9105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99897" y="1179381"/>
            <a:ext cx="652490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61913" y="1179381"/>
            <a:ext cx="5245004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b="true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Conception générale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0376" y="3594703"/>
            <a:ext cx="3995536" cy="128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4"/>
              </a:lnSpc>
            </a:pPr>
            <a:r>
              <a:rPr lang="en-US" sz="1824" spc="16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Diagramme de déploiement</a:t>
            </a:r>
          </a:p>
          <a:p>
            <a:pPr algn="ctr">
              <a:lnSpc>
                <a:spcPts val="2554"/>
              </a:lnSpc>
            </a:pPr>
            <a:r>
              <a:rPr lang="en-US" sz="1824" spc="17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Définit le matériel et les pratique pour stocker et mettre en ligne l’application et ses données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96851" y="3636610"/>
            <a:ext cx="3995536" cy="128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4"/>
              </a:lnSpc>
            </a:pPr>
            <a:r>
              <a:rPr lang="en-US" sz="1824" spc="17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Comparatif des différentes technologies et choix techniques avec justification pour réaliser le projet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7258" y="7330717"/>
            <a:ext cx="3995536" cy="1611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4"/>
              </a:lnSpc>
            </a:pPr>
            <a:r>
              <a:rPr lang="en-US" sz="1824" spc="17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Modèle de visualisation de la base de données qui approte des précisionssur comment les données de l’application seront organisées et reliées entre elles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143063" y="7330717"/>
            <a:ext cx="3995536" cy="1611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4"/>
              </a:lnSpc>
            </a:pPr>
            <a:r>
              <a:rPr lang="en-US" sz="1824" spc="16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Comment les différentes parties de l’application seront organisées et communiqueront entre elles.</a:t>
            </a:r>
          </a:p>
          <a:p>
            <a:pPr algn="ctr">
              <a:lnSpc>
                <a:spcPts val="2554"/>
              </a:lnSpc>
            </a:pPr>
            <a:r>
              <a:rPr lang="en-US" sz="1824" spc="17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Monolithique, micro services, MVC, hexagonale...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44802" y="2852106"/>
            <a:ext cx="3526684" cy="34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2267" spc="-45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Infrastructure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4802" y="6195722"/>
            <a:ext cx="3526684" cy="675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2267" spc="-45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Modélisation des données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203981" y="2867891"/>
            <a:ext cx="3526684" cy="34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2267" spc="-45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Benchmark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203981" y="6546212"/>
            <a:ext cx="3526684" cy="34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2267" spc="-45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Architecture logicielle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0"/>
            <a:ext cx="3086100" cy="2700338"/>
            <a:chOff x="0" y="0"/>
            <a:chExt cx="812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520143" y="376974"/>
            <a:ext cx="4576305" cy="9553836"/>
          </a:xfrm>
          <a:custGeom>
            <a:avLst/>
            <a:gdLst/>
            <a:ahLst/>
            <a:cxnLst/>
            <a:rect r="r" b="b" t="t" l="l"/>
            <a:pathLst>
              <a:path h="9553836" w="4576305">
                <a:moveTo>
                  <a:pt x="0" y="0"/>
                </a:moveTo>
                <a:lnTo>
                  <a:pt x="4576305" y="0"/>
                </a:lnTo>
                <a:lnTo>
                  <a:pt x="4576305" y="9553836"/>
                </a:lnTo>
                <a:lnTo>
                  <a:pt x="0" y="955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201" r="0" b="-420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6944" y="1350169"/>
            <a:ext cx="8695864" cy="8482904"/>
          </a:xfrm>
          <a:custGeom>
            <a:avLst/>
            <a:gdLst/>
            <a:ahLst/>
            <a:cxnLst/>
            <a:rect r="r" b="b" t="t" l="l"/>
            <a:pathLst>
              <a:path h="8482904" w="8695864">
                <a:moveTo>
                  <a:pt x="0" y="0"/>
                </a:moveTo>
                <a:lnTo>
                  <a:pt x="8695864" y="0"/>
                </a:lnTo>
                <a:lnTo>
                  <a:pt x="8695864" y="8482904"/>
                </a:lnTo>
                <a:lnTo>
                  <a:pt x="0" y="84829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267263" y="9756873"/>
            <a:ext cx="4710263" cy="2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b="true" sz="1309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96916" y="547370"/>
            <a:ext cx="189592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Benchmark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0"/>
            <a:ext cx="3086100" cy="2700338"/>
            <a:chOff x="0" y="0"/>
            <a:chExt cx="812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07061" y="1391500"/>
            <a:ext cx="915323" cy="80965"/>
            <a:chOff x="0" y="0"/>
            <a:chExt cx="241073" cy="213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1073" cy="21324"/>
            </a:xfrm>
            <a:custGeom>
              <a:avLst/>
              <a:gdLst/>
              <a:ahLst/>
              <a:cxnLst/>
              <a:rect r="r" b="b" t="t" l="l"/>
              <a:pathLst>
                <a:path h="21324" w="241073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B38C7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3464687" y="5405123"/>
            <a:ext cx="9802575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8282330" y="2521683"/>
            <a:ext cx="0" cy="5986738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7503170" y="4601442"/>
            <a:ext cx="1558319" cy="1607362"/>
            <a:chOff x="0" y="0"/>
            <a:chExt cx="359828" cy="3711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9828" cy="371152"/>
            </a:xfrm>
            <a:custGeom>
              <a:avLst/>
              <a:gdLst/>
              <a:ahLst/>
              <a:cxnLst/>
              <a:rect r="r" b="b" t="t" l="l"/>
              <a:pathLst>
                <a:path h="371152" w="359828">
                  <a:moveTo>
                    <a:pt x="0" y="0"/>
                  </a:moveTo>
                  <a:lnTo>
                    <a:pt x="359828" y="0"/>
                  </a:lnTo>
                  <a:lnTo>
                    <a:pt x="359828" y="371152"/>
                  </a:lnTo>
                  <a:lnTo>
                    <a:pt x="0" y="3711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59828" cy="409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615472" y="4737241"/>
            <a:ext cx="1333715" cy="1335764"/>
          </a:xfrm>
          <a:custGeom>
            <a:avLst/>
            <a:gdLst/>
            <a:ahLst/>
            <a:cxnLst/>
            <a:rect r="r" b="b" t="t" l="l"/>
            <a:pathLst>
              <a:path h="1335764" w="1333715">
                <a:moveTo>
                  <a:pt x="0" y="0"/>
                </a:moveTo>
                <a:lnTo>
                  <a:pt x="1333715" y="0"/>
                </a:lnTo>
                <a:lnTo>
                  <a:pt x="1333715" y="1335764"/>
                </a:lnTo>
                <a:lnTo>
                  <a:pt x="0" y="1335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6485770" y="0"/>
            <a:ext cx="2709876" cy="10417088"/>
            <a:chOff x="0" y="0"/>
            <a:chExt cx="713712" cy="27435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3712" cy="2743595"/>
            </a:xfrm>
            <a:custGeom>
              <a:avLst/>
              <a:gdLst/>
              <a:ahLst/>
              <a:cxnLst/>
              <a:rect r="r" b="b" t="t" l="l"/>
              <a:pathLst>
                <a:path h="2743595" w="713712">
                  <a:moveTo>
                    <a:pt x="0" y="0"/>
                  </a:moveTo>
                  <a:lnTo>
                    <a:pt x="713712" y="0"/>
                  </a:lnTo>
                  <a:lnTo>
                    <a:pt x="713712" y="2743595"/>
                  </a:lnTo>
                  <a:lnTo>
                    <a:pt x="0" y="2743595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13712" cy="278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267263" y="9756873"/>
            <a:ext cx="4710263" cy="2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b="true" sz="1309" spc="12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11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4571" y="594460"/>
            <a:ext cx="652490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07061" y="615627"/>
            <a:ext cx="5391501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b="true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Conception détaillée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23503" y="3532490"/>
            <a:ext cx="3723217" cy="149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Illustre comment les différents composants de l’applications sont liés et communiquent entre eux, qu’ils soient des services internes ou externes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88334" y="3571541"/>
            <a:ext cx="3723217" cy="119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Met en lumière les différentes classes et les relations qui les associent : abstraction, composition, héritage...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64687" y="7013873"/>
            <a:ext cx="3723217" cy="119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Montre le cycle de vie d’un composant depuis le moment ou il est monté et jusqu’au moment ou il est démonté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24581" y="7013873"/>
            <a:ext cx="3723217" cy="149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Chaque ticket définit une tâche à réaliser par l’équipe de développement à partie de toutes les précédentes étapes. </a:t>
            </a:r>
          </a:p>
          <a:p>
            <a:pPr algn="ctr">
              <a:lnSpc>
                <a:spcPts val="2380"/>
              </a:lnSpc>
            </a:pPr>
            <a:r>
              <a:rPr lang="en-US" sz="1700" spc="15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Les DoR et DoD s’appliquent ici.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741952" y="2531208"/>
            <a:ext cx="3286320" cy="619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2"/>
              </a:lnSpc>
            </a:pPr>
            <a:r>
              <a:rPr lang="en-US" sz="2112" spc="-42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Diagramme de composant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741952" y="6270725"/>
            <a:ext cx="3286320" cy="30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2"/>
              </a:lnSpc>
            </a:pPr>
            <a:r>
              <a:rPr lang="en-US" sz="2112" spc="-42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Diagramme d’état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81348" y="2857811"/>
            <a:ext cx="3286320" cy="30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2"/>
              </a:lnSpc>
            </a:pPr>
            <a:r>
              <a:rPr lang="en-US" sz="2112" spc="-42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Diagramme de classe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81348" y="6285434"/>
            <a:ext cx="3286320" cy="30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2"/>
              </a:lnSpc>
            </a:pPr>
            <a:r>
              <a:rPr lang="en-US" sz="2112" spc="-42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Tickets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0"/>
            <a:ext cx="3086100" cy="2700338"/>
            <a:chOff x="0" y="0"/>
            <a:chExt cx="812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23097" y="3628249"/>
            <a:ext cx="8520903" cy="2081654"/>
          </a:xfrm>
          <a:custGeom>
            <a:avLst/>
            <a:gdLst/>
            <a:ahLst/>
            <a:cxnLst/>
            <a:rect r="r" b="b" t="t" l="l"/>
            <a:pathLst>
              <a:path h="2081654" w="8520903">
                <a:moveTo>
                  <a:pt x="0" y="0"/>
                </a:moveTo>
                <a:lnTo>
                  <a:pt x="8520903" y="0"/>
                </a:lnTo>
                <a:lnTo>
                  <a:pt x="8520903" y="2081654"/>
                </a:lnTo>
                <a:lnTo>
                  <a:pt x="0" y="2081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48594" y="1338527"/>
            <a:ext cx="7924712" cy="8592283"/>
          </a:xfrm>
          <a:custGeom>
            <a:avLst/>
            <a:gdLst/>
            <a:ahLst/>
            <a:cxnLst/>
            <a:rect r="r" b="b" t="t" l="l"/>
            <a:pathLst>
              <a:path h="8592283" w="7924712">
                <a:moveTo>
                  <a:pt x="0" y="0"/>
                </a:moveTo>
                <a:lnTo>
                  <a:pt x="7924712" y="0"/>
                </a:lnTo>
                <a:lnTo>
                  <a:pt x="7924712" y="8592283"/>
                </a:lnTo>
                <a:lnTo>
                  <a:pt x="0" y="85922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267263" y="9756873"/>
            <a:ext cx="4710263" cy="2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b="true" sz="1309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12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17541" y="971550"/>
            <a:ext cx="433201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Stratégie de maintenance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44943" y="667357"/>
            <a:ext cx="433201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2250"/>
                </a:solidFill>
                <a:latin typeface="Open Sans"/>
                <a:ea typeface="Open Sans"/>
                <a:cs typeface="Open Sans"/>
                <a:sym typeface="Open Sans"/>
              </a:rPr>
              <a:t>Plan de tests unitaires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019" t="0" r="-1878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22118" y="-130088"/>
            <a:ext cx="2165882" cy="10417088"/>
            <a:chOff x="0" y="0"/>
            <a:chExt cx="570438" cy="27435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0438" cy="2743595"/>
            </a:xfrm>
            <a:custGeom>
              <a:avLst/>
              <a:gdLst/>
              <a:ahLst/>
              <a:cxnLst/>
              <a:rect r="r" b="b" t="t" l="l"/>
              <a:pathLst>
                <a:path h="2743595" w="570438">
                  <a:moveTo>
                    <a:pt x="0" y="0"/>
                  </a:moveTo>
                  <a:lnTo>
                    <a:pt x="570438" y="0"/>
                  </a:lnTo>
                  <a:lnTo>
                    <a:pt x="570438" y="2743595"/>
                  </a:lnTo>
                  <a:lnTo>
                    <a:pt x="0" y="2743595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70438" cy="278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924577" y="578584"/>
            <a:ext cx="599064" cy="900233"/>
          </a:xfrm>
          <a:custGeom>
            <a:avLst/>
            <a:gdLst/>
            <a:ahLst/>
            <a:cxnLst/>
            <a:rect r="r" b="b" t="t" l="l"/>
            <a:pathLst>
              <a:path h="900233" w="599064">
                <a:moveTo>
                  <a:pt x="0" y="0"/>
                </a:moveTo>
                <a:lnTo>
                  <a:pt x="599064" y="0"/>
                </a:lnTo>
                <a:lnTo>
                  <a:pt x="599064" y="900232"/>
                </a:lnTo>
                <a:lnTo>
                  <a:pt x="0" y="9002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5400000">
            <a:off x="10828128" y="5090064"/>
            <a:ext cx="10587979" cy="106871"/>
            <a:chOff x="0" y="0"/>
            <a:chExt cx="2788604" cy="281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8604" cy="28147"/>
            </a:xfrm>
            <a:custGeom>
              <a:avLst/>
              <a:gdLst/>
              <a:ahLst/>
              <a:cxnLst/>
              <a:rect r="r" b="b" t="t" l="l"/>
              <a:pathLst>
                <a:path h="28147" w="2788604">
                  <a:moveTo>
                    <a:pt x="0" y="0"/>
                  </a:moveTo>
                  <a:lnTo>
                    <a:pt x="2788604" y="0"/>
                  </a:lnTo>
                  <a:lnTo>
                    <a:pt x="2788604" y="28147"/>
                  </a:lnTo>
                  <a:lnTo>
                    <a:pt x="0" y="28147"/>
                  </a:lnTo>
                  <a:close/>
                </a:path>
              </a:pathLst>
            </a:custGeom>
            <a:solidFill>
              <a:srgbClr val="B38C7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88604" cy="66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V="true">
            <a:off x="17259300" y="1808623"/>
            <a:ext cx="0" cy="7449677"/>
          </a:xfrm>
          <a:prstGeom prst="line">
            <a:avLst/>
          </a:prstGeom>
          <a:ln cap="flat" w="19050">
            <a:solidFill>
              <a:srgbClr val="B38C7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5904448" y="1517961"/>
            <a:ext cx="4703266" cy="250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Merci </a:t>
            </a:r>
          </a:p>
          <a:p>
            <a:pPr algn="ctr">
              <a:lnSpc>
                <a:spcPts val="6719"/>
              </a:lnSpc>
            </a:pPr>
          </a:p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DAHVQH7YlOY</dc:identifier>
  <dcterms:modified xsi:type="dcterms:W3CDTF">2011-08-01T06:04:30Z</dcterms:modified>
  <cp:revision>1</cp:revision>
  <dc:title>SMARTHOME CONTROL</dc:title>
</cp:coreProperties>
</file>